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645411a-9db7-d9b2-5852-e4206ec26e41}">
          <p14:sldIdLst>
            <p14:sldId id="256"/>
          </p14:sldIdLst>
        </p14:section>
        <p14:section name="Contexto" id="{8ca0b406-172f-ee26-2336-cd502a88653a}">
          <p14:sldIdLst>
            <p14:sldId id="257"/>
            <p14:sldId id="258"/>
            <p14:sldId id="259"/>
          </p14:sldIdLst>
        </p14:section>
        <p14:section name="Dashboard" id="{abc04108-33be-cf38-4102-d29d557bfb7f}">
          <p14:sldIdLst>
            <p14:sldId id="260"/>
            <p14:sldId id="261"/>
            <p14:sldId id="262"/>
            <p14:sldId id="263"/>
            <p14:sldId id="264"/>
          </p14:sldIdLst>
        </p14:section>
        <p14:section name="Análise" id="{78082100-a972-0ca8-4324-11cc0ed3961a}">
          <p14:sldIdLst>
            <p14:sldId id="265"/>
            <p14:sldId id="266"/>
            <p14:sldId id="267"/>
          </p14:sldIdLst>
        </p14:section>
        <p14:section name="Fechamento" id="{cbd20e4f-7f62-90f2-097d-d7478c305e28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0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03B"/>
                </a:solidFill>
                <a:latin typeface="+mn-lt"/>
              </a:rPr>
              <a:t>Ticket médio (R$)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 médio (R$)</c:v>
                </c:pt>
              </c:strCache>
            </c:strRef>
          </c:tx>
          <c:spPr>
            <a:solidFill>
              <a:srgbClr val="E08A00">
                <a:alpha val="100000"/>
              </a:srgbClr>
            </a:solidFill>
            <a:effectLst/>
          </c:spPr>
          <c:invertIfNegative val="0"/>
          <c:dLbls>
            <c:numFmt formatCode="#,##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30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8A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8F8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Com Produto X</c:v>
                  </c:pt>
                  <c:pt idx="1">
                    <c:v>Sem Produto X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4476.94</c:v>
                </c:pt>
                <c:pt idx="1">
                  <c:v>4759.57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b="0" i="0" strike="noStrike" sz="1200" u="none">
                  <a:solidFill>
                    <a:srgbClr val="1230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0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00"/>
          <c:min val="0"/>
        </c:scaling>
        <c:delete val="0"/>
        <c:axPos val="l"/>
        <c:majorGridlines>
          <c:spPr>
            <a:ln w="6350" cap="flat">
              <a:solidFill>
                <a:srgbClr val="B5DD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projeto Healing: um projeto de portfólio de dados baseado em um e-commerce fictício. Base sintética, dashboard no Metabase.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é transformar dados transacionais em informação útil para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PostgreSQL também foi migrado para o Neon para validar uma arquitetura com banco em nuvem e Metabase desacoplado do ambiente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dados são sintéticos: resultados refletem a base criada para estudo, não um e-commerce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geral: faturamento, pedidos, ticket médio e taxa de cancelamento.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ranking mostra relevância individual, mas não diz se o produto aumenta o valor da cesta. Isso é investigado no slide do Produto 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Comparação de canais de venda e categorias.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Evolução temporal do faturamento. O último mês é menor; vale checar se é um mês incompleto na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12.000 pedidos: 75% concluídos, 12% confirmados, 8% cancelados, 5% criados. Receita potencial perdida: ~9,93%.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Resultado: o Produto X é relevante em faturamento e participação, mas pedidos com ele têm ticket médio menor. Relevância individual não significa aumento do valor da cesta. Não há causalidade comprovada.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Mesmos números da tabela do dashboard, em gráfico.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ABC é aplicada sobre o faturamento dos produtos com vendas concluídas. Classe A: R$ 33,85 mi; B: R$ 6,34 mi; C: R$ 2,14 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Limitações documentadas para evitar interpretações inadequadas.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a mensagem central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rgbClr val="1DB9A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D5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Projeto Healing · Sales Intelligence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tx1"/>
                </a:solidFill>
              </a:rPr>
              <a:t>PORTFÓLIO · DADOS · SQL · BI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Healing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Sales Intelligence para E-commerce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 problema de negócio ao dashboard: PostgreSQL, SQL e Metabase para transformar dados transacionais em decisão.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Diógenes</a:t>
            </a:r>
            <a:endParaRPr lang="en-US" sz="1200" dirty="0"/>
          </a:p>
        </p:txBody>
      </p:sp>
      <p:sp>
        <p:nvSpPr>
          <p:cNvPr id="7" name="Cartao capa"/>
          <p:cNvSpPr/>
          <p:nvPr/>
        </p:nvSpPr>
        <p:spPr>
          <a:xfrm>
            <a:off x="5394960" y="731520"/>
            <a:ext cx="3383280" cy="356616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pic>
        <p:nvPicPr>
          <p:cNvPr id="8" name="Top10 capa" descr="crops/top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882714"/>
            <a:ext cx="3108960" cy="1617852"/>
          </a:xfrm>
          <a:prstGeom prst="rect">
            <a:avLst/>
          </a:prstGeom>
        </p:spPr>
      </p:pic>
      <p:pic>
        <p:nvPicPr>
          <p:cNvPr id="9" name="KPIs capa" descr="crops/kpi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3232606"/>
            <a:ext cx="3108960" cy="3927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problema de negócio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Um e-commerce com dados de clientes, produtos, pedidos e pagamentos, mas sem respostas gerenciais.</a:t>
            </a:r>
            <a:endParaRPr lang="en-US" sz="1500" dirty="0"/>
          </a:p>
        </p:txBody>
      </p:sp>
      <p:sp>
        <p:nvSpPr>
          <p:cNvPr id="4" name="Pergunta 1"/>
          <p:cNvSpPr/>
          <p:nvPr/>
        </p:nvSpPr>
        <p:spPr>
          <a:xfrm>
            <a:off x="457200" y="169164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Quanto faturamos?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Faturamento total, pedidos concluídos e ticket médio</a:t>
            </a:r>
            <a:endParaRPr lang="en-US" sz="1200" dirty="0"/>
          </a:p>
        </p:txBody>
      </p:sp>
      <p:sp>
        <p:nvSpPr>
          <p:cNvPr id="8" name="Pergunta 2"/>
          <p:cNvSpPr/>
          <p:nvPr/>
        </p:nvSpPr>
        <p:spPr>
          <a:xfrm>
            <a:off x="4663440" y="169164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Quem sustenta a receita?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Produtos, categorias e concentração (Curva ABC)</a:t>
            </a:r>
            <a:endParaRPr lang="en-US" sz="1200" dirty="0"/>
          </a:p>
        </p:txBody>
      </p:sp>
      <p:sp>
        <p:nvSpPr>
          <p:cNvPr id="12" name="Pergunta 3"/>
          <p:cNvSpPr/>
          <p:nvPr/>
        </p:nvSpPr>
        <p:spPr>
          <a:xfrm>
            <a:off x="457200" y="315468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Onde estamos perdendo?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Cancelamentos, reembolsos e receita potencial perdida</a:t>
            </a:r>
            <a:endParaRPr lang="en-US" sz="1200" dirty="0"/>
          </a:p>
        </p:txBody>
      </p:sp>
      <p:sp>
        <p:nvSpPr>
          <p:cNvPr id="16" name="Pergunta 4"/>
          <p:cNvSpPr/>
          <p:nvPr/>
        </p:nvSpPr>
        <p:spPr>
          <a:xfrm>
            <a:off x="4663440" y="315468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8463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Qual o papel do Produto X?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Participação nos pedidos e efeito no ticket médio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Arquitetura e stack</a:t>
            </a:r>
            <a:endParaRPr lang="en-US" sz="2800" dirty="0"/>
          </a:p>
        </p:txBody>
      </p:sp>
      <p:sp>
        <p:nvSpPr>
          <p:cNvPr id="3" name="Etapa 1"/>
          <p:cNvSpPr/>
          <p:nvPr/>
        </p:nvSpPr>
        <p:spPr>
          <a:xfrm>
            <a:off x="457200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Dados transacionais</a:t>
            </a:r>
            <a:endParaRPr lang="en-US" sz="1200" dirty="0"/>
          </a:p>
        </p:txBody>
      </p:sp>
      <p:sp>
        <p:nvSpPr>
          <p:cNvPr id="5" name="Etapa 2"/>
          <p:cNvSpPr/>
          <p:nvPr/>
        </p:nvSpPr>
        <p:spPr>
          <a:xfrm>
            <a:off x="1856232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7" name="Etapa 3"/>
          <p:cNvSpPr/>
          <p:nvPr/>
        </p:nvSpPr>
        <p:spPr>
          <a:xfrm>
            <a:off x="3255264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55264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SQL</a:t>
            </a:r>
            <a:endParaRPr lang="en-US" sz="1200" dirty="0"/>
          </a:p>
        </p:txBody>
      </p:sp>
      <p:sp>
        <p:nvSpPr>
          <p:cNvPr id="9" name="Etapa 4"/>
          <p:cNvSpPr/>
          <p:nvPr/>
        </p:nvSpPr>
        <p:spPr>
          <a:xfrm>
            <a:off x="4654296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54296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Metabase</a:t>
            </a:r>
            <a:endParaRPr lang="en-US" sz="1200" dirty="0"/>
          </a:p>
        </p:txBody>
      </p:sp>
      <p:sp>
        <p:nvSpPr>
          <p:cNvPr id="11" name="Etapa 5"/>
          <p:cNvSpPr/>
          <p:nvPr/>
        </p:nvSpPr>
        <p:spPr>
          <a:xfrm>
            <a:off x="6053328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53328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Dashboard</a:t>
            </a:r>
            <a:endParaRPr lang="en-US" sz="1200" dirty="0"/>
          </a:p>
        </p:txBody>
      </p:sp>
      <p:sp>
        <p:nvSpPr>
          <p:cNvPr id="13" name="Etapa 6"/>
          <p:cNvSpPr/>
          <p:nvPr/>
        </p:nvSpPr>
        <p:spPr>
          <a:xfrm>
            <a:off x="7452360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Insights</a:t>
            </a:r>
            <a:endParaRPr lang="en-US" sz="1200" dirty="0"/>
          </a:p>
        </p:txBody>
      </p:sp>
      <p:sp>
        <p:nvSpPr>
          <p:cNvPr id="15" name="Tech 1"/>
          <p:cNvSpPr/>
          <p:nvPr/>
        </p:nvSpPr>
        <p:spPr>
          <a:xfrm>
            <a:off x="457200" y="242316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PostgreSQL + SQL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Banco relacional e consultas analíticas</a:t>
            </a:r>
            <a:endParaRPr lang="en-US" sz="1100" dirty="0"/>
          </a:p>
        </p:txBody>
      </p:sp>
      <p:sp>
        <p:nvSpPr>
          <p:cNvPr id="18" name="Tech 2"/>
          <p:cNvSpPr/>
          <p:nvPr/>
        </p:nvSpPr>
        <p:spPr>
          <a:xfrm>
            <a:off x="3264408" y="242316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447288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Metabase (Docker)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447288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Dashboard executado localmente</a:t>
            </a:r>
            <a:endParaRPr lang="en-US" sz="1100" dirty="0"/>
          </a:p>
        </p:txBody>
      </p:sp>
      <p:sp>
        <p:nvSpPr>
          <p:cNvPr id="21" name="Tech 3"/>
          <p:cNvSpPr/>
          <p:nvPr/>
        </p:nvSpPr>
        <p:spPr>
          <a:xfrm>
            <a:off x="6071616" y="242316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54496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Flyway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54496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Versionamento das migrations</a:t>
            </a:r>
            <a:endParaRPr lang="en-US" sz="1100" dirty="0"/>
          </a:p>
        </p:txBody>
      </p:sp>
      <p:sp>
        <p:nvSpPr>
          <p:cNvPr id="24" name="Tech 4"/>
          <p:cNvSpPr/>
          <p:nvPr/>
        </p:nvSpPr>
        <p:spPr>
          <a:xfrm>
            <a:off x="457200" y="347472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0080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Java / Spring Boot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Camada complementar de aplicação</a:t>
            </a:r>
            <a:endParaRPr lang="en-US" sz="1100" dirty="0"/>
          </a:p>
        </p:txBody>
      </p:sp>
      <p:sp>
        <p:nvSpPr>
          <p:cNvPr id="27" name="Tech 5"/>
          <p:cNvSpPr/>
          <p:nvPr/>
        </p:nvSpPr>
        <p:spPr>
          <a:xfrm>
            <a:off x="3264408" y="347472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3447288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47288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PostgreSQL em nuvem, testes de migração</a:t>
            </a:r>
            <a:endParaRPr lang="en-US" sz="1100" dirty="0"/>
          </a:p>
        </p:txBody>
      </p:sp>
      <p:sp>
        <p:nvSpPr>
          <p:cNvPr id="30" name="Tech 6"/>
          <p:cNvSpPr/>
          <p:nvPr/>
        </p:nvSpPr>
        <p:spPr>
          <a:xfrm>
            <a:off x="6071616" y="347472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254496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Git / GitHub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54496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Versionamento e documentação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Modelo de dados e base sintética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737360" y="1645920"/>
            <a:ext cx="27432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1645920"/>
            <a:ext cx="27432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0" y="1280160"/>
            <a:ext cx="27432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280160"/>
            <a:ext cx="27432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1645920"/>
            <a:ext cx="0" cy="8229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2468880"/>
            <a:ext cx="27432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2468880"/>
            <a:ext cx="27432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0" name="Entidade Cliente"/>
          <p:cNvSpPr/>
          <p:nvPr/>
        </p:nvSpPr>
        <p:spPr>
          <a:xfrm>
            <a:off x="457200" y="1371600"/>
            <a:ext cx="128016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Cliente</a:t>
            </a:r>
            <a:endParaRPr lang="en-US" sz="1200" dirty="0"/>
          </a:p>
        </p:txBody>
      </p:sp>
      <p:sp>
        <p:nvSpPr>
          <p:cNvPr id="12" name="Entidade Pedido"/>
          <p:cNvSpPr/>
          <p:nvPr/>
        </p:nvSpPr>
        <p:spPr>
          <a:xfrm>
            <a:off x="2011680" y="1371600"/>
            <a:ext cx="128016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1168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Pedido</a:t>
            </a:r>
            <a:endParaRPr lang="en-US" sz="1200" dirty="0"/>
          </a:p>
        </p:txBody>
      </p:sp>
      <p:sp>
        <p:nvSpPr>
          <p:cNvPr id="14" name="Entidade ItemPedido"/>
          <p:cNvSpPr/>
          <p:nvPr/>
        </p:nvSpPr>
        <p:spPr>
          <a:xfrm>
            <a:off x="3566160" y="1005840"/>
            <a:ext cx="128016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66160" y="1005840"/>
            <a:ext cx="12801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ItemPedido</a:t>
            </a:r>
            <a:endParaRPr lang="en-US" sz="1200" dirty="0"/>
          </a:p>
        </p:txBody>
      </p:sp>
      <p:sp>
        <p:nvSpPr>
          <p:cNvPr id="16" name="Entidade Produto"/>
          <p:cNvSpPr/>
          <p:nvPr/>
        </p:nvSpPr>
        <p:spPr>
          <a:xfrm>
            <a:off x="5120640" y="1005840"/>
            <a:ext cx="128016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1005840"/>
            <a:ext cx="12801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Produto</a:t>
            </a:r>
            <a:endParaRPr lang="en-US" sz="1200" dirty="0"/>
          </a:p>
        </p:txBody>
      </p:sp>
      <p:sp>
        <p:nvSpPr>
          <p:cNvPr id="18" name="Entidade Categoria"/>
          <p:cNvSpPr/>
          <p:nvPr/>
        </p:nvSpPr>
        <p:spPr>
          <a:xfrm>
            <a:off x="6675120" y="1005840"/>
            <a:ext cx="128016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1005840"/>
            <a:ext cx="12801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Categoria</a:t>
            </a:r>
            <a:endParaRPr lang="en-US" sz="1200" dirty="0"/>
          </a:p>
        </p:txBody>
      </p:sp>
      <p:sp>
        <p:nvSpPr>
          <p:cNvPr id="20" name="Entidade Pagamento"/>
          <p:cNvSpPr/>
          <p:nvPr/>
        </p:nvSpPr>
        <p:spPr>
          <a:xfrm>
            <a:off x="3566160" y="2194560"/>
            <a:ext cx="128016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6616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Pagamento</a:t>
            </a:r>
            <a:endParaRPr lang="en-US" sz="1200" dirty="0"/>
          </a:p>
        </p:txBody>
      </p:sp>
      <p:sp>
        <p:nvSpPr>
          <p:cNvPr id="22" name="Entidade TentativaPagamento"/>
          <p:cNvSpPr/>
          <p:nvPr/>
        </p:nvSpPr>
        <p:spPr>
          <a:xfrm>
            <a:off x="5120640" y="2194560"/>
            <a:ext cx="128016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TentativaPagamento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017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ItemPedido guarda quantidade, preço unitário e desconto: a base das análises de produto.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520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2.000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clientes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0" y="3520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600" dirty="0"/>
          </a:p>
        </p:txBody>
      </p:sp>
      <p:sp>
        <p:nvSpPr>
          <p:cNvPr id="28" name="Text 26"/>
          <p:cNvSpPr txBox="1"/>
          <p:nvPr/>
        </p:nvSpPr>
        <p:spPr>
          <a:xfrm>
            <a:off x="320040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produtos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3520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12.000</a:t>
            </a:r>
            <a:endParaRPr lang="en-US" sz="36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pedidos (dados sintéticos)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KPIs principais</a:t>
            </a:r>
            <a:endParaRPr lang="en-US" sz="2800" dirty="0"/>
          </a:p>
        </p:txBody>
      </p:sp>
      <p:sp>
        <p:nvSpPr>
          <p:cNvPr id="3" name="Cartao KPIs"/>
          <p:cNvSpPr/>
          <p:nvPr/>
        </p:nvSpPr>
        <p:spPr>
          <a:xfrm>
            <a:off x="457200" y="1097280"/>
            <a:ext cx="822960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pic>
        <p:nvPicPr>
          <p:cNvPr id="4" name="Print KPIs" descr="crops/kpi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9045"/>
            <a:ext cx="8046720" cy="10166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R$ 42,33 mi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faturamento total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9.000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274320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pedidos concluídos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R$ 4.703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ticket médio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8,0%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taxa de cancelamento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Faturamento considera pedidos concluídos; 12.000 pedidos no total.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Top 10 produtos por faturamento</a:t>
            </a:r>
            <a:endParaRPr lang="en-US" sz="2800" dirty="0"/>
          </a:p>
        </p:txBody>
      </p:sp>
      <p:sp>
        <p:nvSpPr>
          <p:cNvPr id="3" name="Cartao Top10"/>
          <p:cNvSpPr/>
          <p:nvPr/>
        </p:nvSpPr>
        <p:spPr>
          <a:xfrm>
            <a:off x="457200" y="1097280"/>
            <a:ext cx="4846320" cy="338328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pic>
        <p:nvPicPr>
          <p:cNvPr id="4" name="Print Top10" descr="crops/top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5531"/>
            <a:ext cx="4663440" cy="242677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11887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Smartwatch Pulse X lidera com folga: é o Produto X do projeto.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Os demais são, em grande parte, produtos da linha Tech.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Receita concentrada em poucos itens, o que leva à Curva ABC.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Onde a receita é gerada</a:t>
            </a:r>
            <a:endParaRPr lang="en-US" sz="2800" dirty="0"/>
          </a:p>
        </p:txBody>
      </p:sp>
      <p:sp>
        <p:nvSpPr>
          <p:cNvPr id="3" name="Cartao canal"/>
          <p:cNvSpPr/>
          <p:nvPr/>
        </p:nvSpPr>
        <p:spPr>
          <a:xfrm>
            <a:off x="457200" y="1097280"/>
            <a:ext cx="402336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pic>
        <p:nvPicPr>
          <p:cNvPr id="4" name="Print canal" descr="crops/ca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9923"/>
            <a:ext cx="3840480" cy="1989313"/>
          </a:xfrm>
          <a:prstGeom prst="rect">
            <a:avLst/>
          </a:prstGeom>
        </p:spPr>
      </p:pic>
      <p:sp>
        <p:nvSpPr>
          <p:cNvPr id="5" name="Cartao categoria"/>
          <p:cNvSpPr/>
          <p:nvPr/>
        </p:nvSpPr>
        <p:spPr>
          <a:xfrm>
            <a:off x="4663440" y="1097280"/>
            <a:ext cx="402336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pic>
        <p:nvPicPr>
          <p:cNvPr id="6" name="Print categoria" descr="crops/categor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62303"/>
            <a:ext cx="3840480" cy="198455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749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Canal de venda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Marketplace (R$ 15,2 mi), Site (R$ 14,6 mi) e App (R$ 12,5 mi): receita bem distribuída entre os canais.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749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Categoria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Tecnologia domina o faturamento; Casa, Educação, Lazer e Moda ficam bem abaixo.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Evolução mensal do faturamento</a:t>
            </a:r>
            <a:endParaRPr lang="en-US" sz="2800" dirty="0"/>
          </a:p>
        </p:txBody>
      </p:sp>
      <p:sp>
        <p:nvSpPr>
          <p:cNvPr id="3" name="Cartao evolucao"/>
          <p:cNvSpPr/>
          <p:nvPr/>
        </p:nvSpPr>
        <p:spPr>
          <a:xfrm>
            <a:off x="457200" y="1097280"/>
            <a:ext cx="4846320" cy="338328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pic>
        <p:nvPicPr>
          <p:cNvPr id="4" name="Print evolucao" descr="crops/evolu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89590"/>
            <a:ext cx="4663440" cy="239865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0" y="1188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R$ 6,2–6,4 mi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faturamento mensal na maior parte do período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2468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R$ 5,3 mi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último mês da série, abaixo dos demais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3749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Série estável de mar a ago/2026, com queda no último ponto.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Status dos pedidos e cancelamentos</a:t>
            </a:r>
            <a:endParaRPr lang="en-US" sz="2800" dirty="0"/>
          </a:p>
        </p:txBody>
      </p:sp>
      <p:sp>
        <p:nvSpPr>
          <p:cNvPr id="3" name="Cartao status"/>
          <p:cNvSpPr/>
          <p:nvPr/>
        </p:nvSpPr>
        <p:spPr>
          <a:xfrm>
            <a:off x="45720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pic>
        <p:nvPicPr>
          <p:cNvPr id="4" name="Print status" descr="crops/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9792"/>
            <a:ext cx="3749040" cy="2598256"/>
          </a:xfrm>
          <a:prstGeom prst="rect">
            <a:avLst/>
          </a:prstGeom>
        </p:spPr>
      </p:pic>
      <p:sp>
        <p:nvSpPr>
          <p:cNvPr id="5" name="Cartao cancel"/>
          <p:cNvSpPr/>
          <p:nvPr/>
        </p:nvSpPr>
        <p:spPr>
          <a:xfrm>
            <a:off x="4572000" y="1097280"/>
            <a:ext cx="41148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pic>
        <p:nvPicPr>
          <p:cNvPr id="6" name="Print cancel" descr="crops/canc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93095"/>
            <a:ext cx="3931920" cy="99709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66344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pedidos concluídos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76656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676656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cancelados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663440" y="37490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Cerca de R$ 4,7 mi em pedidos cancelados, ou 9,93% de receita potencial perdida.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Produto X: Smartwatch Pulse X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Hipótese: pedidos com o Produto X têm ticket médio e receita diferentes dos pedidos sem ele.</a:t>
            </a:r>
            <a:endParaRPr lang="en-US" sz="1400" dirty="0"/>
          </a:p>
        </p:txBody>
      </p:sp>
      <p:sp>
        <p:nvSpPr>
          <p:cNvPr id="4" name="Cartao tabela"/>
          <p:cNvSpPr/>
          <p:nvPr/>
        </p:nvSpPr>
        <p:spPr>
          <a:xfrm>
            <a:off x="457200" y="1508760"/>
            <a:ext cx="48463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pic>
        <p:nvPicPr>
          <p:cNvPr id="5" name="Print tabela ProdX" descr="crops/prod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680" y="1600200"/>
            <a:ext cx="4203360" cy="1280160"/>
          </a:xfrm>
          <a:prstGeom prst="rect">
            <a:avLst/>
          </a:prstGeom>
        </p:spPr>
      </p:pic>
      <p:sp>
        <p:nvSpPr>
          <p:cNvPr id="6" name="Cartao clientes KPI"/>
          <p:cNvSpPr/>
          <p:nvPr/>
        </p:nvSpPr>
        <p:spPr>
          <a:xfrm>
            <a:off x="457200" y="3154680"/>
            <a:ext cx="48463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pic>
        <p:nvPicPr>
          <p:cNvPr id="7" name="Print KPIs clientes" descr="crops/clien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369" y="3200400"/>
            <a:ext cx="2399981" cy="12344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0" y="1508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20,00%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566928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dos pedidos concluídos (1.800 de 9.000) contêm o Produto X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−5,9%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ticket médio com o produto: R$ 4.476,94 vs R$ 4.759,57 (R$ 282,63 menor)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 vs. sem Produto X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28016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 Produto X: 1.800 pedidos, R$ 8,06 mi.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Sem Produto X: 7.200 pedidos, R$ 34,27 mi.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Diferença de ticket: R$ 282,63 (≈ 5,9%).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Cuidado: não observar só o ranking de vendas.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Curva ABC: concentração da receita</a:t>
            </a:r>
            <a:endParaRPr lang="en-US" sz="2800" dirty="0"/>
          </a:p>
        </p:txBody>
      </p:sp>
      <p:sp>
        <p:nvSpPr>
          <p:cNvPr id="3" name="Cartao ABC"/>
          <p:cNvSpPr/>
          <p:nvPr/>
        </p:nvSpPr>
        <p:spPr>
          <a:xfrm>
            <a:off x="457200" y="1097280"/>
            <a:ext cx="484632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pic>
        <p:nvPicPr>
          <p:cNvPr id="4" name="Print ABC" descr="crops/ab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8487"/>
            <a:ext cx="4663440" cy="172926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0" y="1097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 de 450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produtos concentram ~80% do faturamento (classe A)</a:t>
            </a:r>
            <a:endParaRPr lang="en-US" sz="1200" dirty="0"/>
          </a:p>
        </p:txBody>
      </p:sp>
      <p:sp>
        <p:nvSpPr>
          <p:cNvPr id="7" name="Classe A"/>
          <p:cNvSpPr/>
          <p:nvPr/>
        </p:nvSpPr>
        <p:spPr>
          <a:xfrm>
            <a:off x="457200" y="333756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Classe 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79,98%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181 produtos</a:t>
            </a:r>
            <a:endParaRPr lang="en-US" sz="1100" dirty="0"/>
          </a:p>
        </p:txBody>
      </p:sp>
      <p:sp>
        <p:nvSpPr>
          <p:cNvPr id="11" name="Classe B"/>
          <p:cNvSpPr/>
          <p:nvPr/>
        </p:nvSpPr>
        <p:spPr>
          <a:xfrm>
            <a:off x="3264408" y="333756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447288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Classe B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447288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14,97%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447288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139 produtos</a:t>
            </a:r>
            <a:endParaRPr lang="en-US" sz="1100" dirty="0"/>
          </a:p>
        </p:txBody>
      </p:sp>
      <p:sp>
        <p:nvSpPr>
          <p:cNvPr id="15" name="Classe C"/>
          <p:cNvSpPr/>
          <p:nvPr/>
        </p:nvSpPr>
        <p:spPr>
          <a:xfrm>
            <a:off x="6071616" y="333756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254496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Classe C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54496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5,05%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254496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130 produtos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Limitações e próximos passos</a:t>
            </a:r>
            <a:endParaRPr lang="en-US" sz="2800" dirty="0"/>
          </a:p>
        </p:txBody>
      </p:sp>
      <p:sp>
        <p:nvSpPr>
          <p:cNvPr id="3" name="Cartao limitacoes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Limitações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Dados sintéticos, não representam um e-commerce real.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Sem causalidade comprovada nas análises.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Recorrência de 100% (1.500 de 1.500 clientes) é efeito da geração dos dados.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Faltam variáveis para margem, conversão e aquisição.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Dashboard ainda roda só localmente.</a:t>
            </a:r>
            <a:endParaRPr lang="en-US" sz="1200" dirty="0"/>
          </a:p>
        </p:txBody>
      </p:sp>
      <p:sp>
        <p:nvSpPr>
          <p:cNvPr id="6" name="Cartao proximos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A8F86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Próximos passos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Publicar o Metabase (limite de memória do plano gratuito).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RFM, retenção, coortes e recompra.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Market basket, margem e descontos.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Python/Pandas e Power BI.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Acompanhamento temporal do Produto X.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Observar um número ≠ interpretar o que ele representa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Produto X é relevante em receita e presença nos pedidos, mas não elevou o ticket médio. Esse é o valor de analisar antes de decidir.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Dados | Banco de Dados | SQL | PostgreSQL | BI | Java | Spring Boot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ing Dark">
  <a:themeElements>
    <a:clrScheme name="Healing Dark">
      <a:dk1>
        <a:srgbClr val="12303B"/>
      </a:dk1>
      <a:lt1>
        <a:srgbClr val="FFFFFF"/>
      </a:lt1>
      <a:dk2>
        <a:srgbClr val="0F2A3F"/>
      </a:dk2>
      <a:lt2>
        <a:srgbClr val="D5F5EE"/>
      </a:lt2>
      <a:accent1>
        <a:srgbClr val="0A8F86"/>
      </a:accent1>
      <a:accent2>
        <a:srgbClr val="E08A00"/>
      </a:accent2>
      <a:accent3>
        <a:srgbClr val="5E9B1E"/>
      </a:accent3>
      <a:accent4>
        <a:srgbClr val="E0443E"/>
      </a:accent4>
      <a:accent5>
        <a:srgbClr val="4A6572"/>
      </a:accent5>
      <a:accent6>
        <a:srgbClr val="7C5CE0"/>
      </a:accent6>
      <a:hlink>
        <a:srgbClr val="0A8F86"/>
      </a:hlink>
      <a:folHlink>
        <a:srgbClr val="4A6572"/>
      </a:folHlink>
    </a:clrScheme>
    <a:fontScheme name="Healing D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Healing — Sales Intelligence</dc:title>
  <dc:subject>PptxGenJS Presentation</dc:subject>
  <dc:creator>Diógenes</dc:creator>
  <cp:lastModifiedBy>Diógenes</cp:lastModifiedBy>
  <cp:revision>1</cp:revision>
  <dcterms:created xsi:type="dcterms:W3CDTF">2026-10-02T03:14:47Z</dcterms:created>
  <dcterms:modified xsi:type="dcterms:W3CDTF">2026-10-02T03:14:47Z</dcterms:modified>
</cp:coreProperties>
</file>